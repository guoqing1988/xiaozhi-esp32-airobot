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D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827"/>
              </a:lnSpc>
            </a:pPr>
            <a:r>
              <a:rPr sz="1200" b="0">
                <a:solidFill>
                  <a:srgbClr val="BAF36B"/>
                </a:solidFill>
                <a:latin typeface="Noto Sans CJK SC"/>
                <a:ea typeface="Noto Sans CJK SC"/>
              </a:rPr>
              <a:t>会动手的家用机器人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4572000" cy="24688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9591"/>
              </a:lnSpc>
            </a:pPr>
            <a:r>
              <a:rPr sz="6300" b="1">
                <a:solidFill>
                  <a:srgbClr val="FFFFFF"/>
                </a:solidFill>
                <a:latin typeface="Noto Sans CJK SC"/>
                <a:ea typeface="Noto Sans CJK SC"/>
              </a:rPr>
              <a:t>AI 智能伴侣</a:t>
            </a:r>
          </a:p>
          <a:p>
            <a:pPr algn="l">
              <a:lnSpc>
                <a:spcPts val="9591"/>
              </a:lnSpc>
            </a:pPr>
            <a:r>
              <a:rPr sz="6300" b="1">
                <a:solidFill>
                  <a:srgbClr val="FFFFFF"/>
                </a:solidFill>
                <a:latin typeface="Noto Sans CJK SC"/>
                <a:ea typeface="Noto Sans CJK SC"/>
              </a:rPr>
              <a:t>机器人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4572000" cy="10972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045"/>
              </a:lnSpc>
            </a:pPr>
            <a:r>
              <a:rPr sz="2000" b="0">
                <a:solidFill>
                  <a:srgbClr val="B6BFCE"/>
                </a:solidFill>
                <a:latin typeface="Noto Sans CJK SC"/>
                <a:ea typeface="Noto Sans CJK SC"/>
              </a:rPr>
              <a:t>多模态 AI · 能听、能看、会走、会管</a:t>
            </a:r>
          </a:p>
          <a:p>
            <a:pPr algn="l">
              <a:lnSpc>
                <a:spcPts val="3045"/>
              </a:lnSpc>
            </a:pPr>
            <a:r>
              <a:rPr sz="2000" b="0">
                <a:solidFill>
                  <a:srgbClr val="B6BFCE"/>
                </a:solidFill>
                <a:latin typeface="Noto Sans CJK SC"/>
                <a:ea typeface="Noto Sans CJK SC"/>
              </a:rPr>
              <a:t>家，一个初中生做的实体伙伴</a:t>
            </a:r>
          </a:p>
        </p:txBody>
      </p:sp>
      <p:pic>
        <p:nvPicPr>
          <p:cNvPr id="6" name="Picture 5" descr="01-robot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990" y="640080"/>
            <a:ext cx="4183379" cy="55778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6327648"/>
            <a:ext cx="10817352" cy="13716"/>
          </a:xfrm>
          <a:prstGeom prst="rect">
            <a:avLst/>
          </a:prstGeom>
          <a:solidFill>
            <a:srgbClr val="414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10817352" cy="20116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522"/>
              </a:lnSpc>
            </a:pPr>
            <a:r>
              <a:rPr sz="1000" b="0">
                <a:solidFill>
                  <a:srgbClr val="B6BFCE"/>
                </a:solidFill>
                <a:latin typeface="Noto Sans CJK SC"/>
                <a:ea typeface="Noto Sans CJK SC"/>
              </a:rPr>
              <a:t>AI 智能多模态伴侣机器人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0789920" cy="960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5480"/>
              </a:lnSpc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会说话的盒子，不会动手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114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36"/>
              </a:lnSpc>
            </a:pPr>
            <a:r>
              <a:rPr sz="1600" b="0">
                <a:solidFill>
                  <a:srgbClr val="B6BFCE"/>
                </a:solidFill>
                <a:latin typeface="Noto Sans CJK SC"/>
                <a:ea typeface="Noto Sans CJK SC"/>
              </a:rPr>
              <a:t>家里的智能音箱很聪明，但它只能回答问题。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4754880" cy="5943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36"/>
              </a:lnSpc>
            </a:pPr>
            <a:r>
              <a:rPr sz="1600" b="1">
                <a:solidFill>
                  <a:srgbClr val="BAF36B"/>
                </a:solidFill>
                <a:latin typeface="Noto Sans CJK SC"/>
                <a:ea typeface="Noto Sans CJK SC"/>
              </a:rPr>
              <a:t>现在的智能音箱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问一句答一句，只会聊天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67835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只能待在桌上，不会动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7807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谁说话，都是同一个回答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8305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管不了家里的灯和电器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788920"/>
            <a:ext cx="4754880" cy="5943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36"/>
              </a:lnSpc>
            </a:pPr>
            <a:r>
              <a:rPr sz="1600" b="1">
                <a:solidFill>
                  <a:srgbClr val="BAF36B"/>
                </a:solidFill>
                <a:latin typeface="Noto Sans CJK SC"/>
                <a:ea typeface="Noto Sans CJK SC"/>
              </a:rPr>
              <a:t>我们做的机器人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65760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说一句就开关灯、调亮度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267835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能听、能看，还会自己走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87807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着火、煤气泄漏自己报警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488305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听声音，就知道你是谁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6327648"/>
            <a:ext cx="10817352" cy="13716"/>
          </a:xfrm>
          <a:prstGeom prst="rect">
            <a:avLst/>
          </a:prstGeom>
          <a:solidFill>
            <a:srgbClr val="414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64808"/>
            <a:ext cx="10817352" cy="20116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522"/>
              </a:lnSpc>
            </a:pPr>
            <a:r>
              <a:rPr sz="1000" b="0">
                <a:solidFill>
                  <a:srgbClr val="B6BFCE"/>
                </a:solidFill>
                <a:latin typeface="Noto Sans CJK SC"/>
                <a:ea typeface="Noto Sans CJK SC"/>
              </a:rPr>
              <a:t>AI 智能多模态伴侣机器人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0789920" cy="960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5480"/>
              </a:lnSpc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一个负责思考，一个负责动手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114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36"/>
              </a:lnSpc>
            </a:pPr>
            <a:r>
              <a:rPr sz="1600" b="0">
                <a:solidFill>
                  <a:srgbClr val="B6BFCE"/>
                </a:solidFill>
                <a:latin typeface="Noto Sans CJK SC"/>
                <a:ea typeface="Noto Sans CJK SC"/>
              </a:rPr>
              <a:t>两块芯片分工：一块连云端想问题，一块管轮子和舵机。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4754880" cy="5943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36"/>
              </a:lnSpc>
            </a:pPr>
            <a:r>
              <a:rPr sz="1600" b="1">
                <a:solidFill>
                  <a:srgbClr val="BAF36B"/>
                </a:solidFill>
                <a:latin typeface="Noto Sans CJK SC"/>
                <a:ea typeface="Noto Sans CJK SC"/>
              </a:rPr>
              <a:t>大脑 · 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ESP32-S3 芯片：语音对话、认东西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67835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摄像头拍照、画面识别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7807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管屏幕表情和网页控制台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788920"/>
            <a:ext cx="4754880" cy="5943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36"/>
              </a:lnSpc>
            </a:pPr>
            <a:r>
              <a:rPr sz="1600" b="1">
                <a:solidFill>
                  <a:srgbClr val="BAF36B"/>
                </a:solidFill>
                <a:latin typeface="Noto Sans CJK SC"/>
                <a:ea typeface="Noto Sans CJK SC"/>
              </a:rPr>
              <a:t>小脑 · 动手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65760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Arduino UNO：驱动四个麦克纳姆轮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67835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头部转头与特技动作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87807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四路巡线、PS2 手柄接管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27648"/>
            <a:ext cx="10817352" cy="13716"/>
          </a:xfrm>
          <a:prstGeom prst="rect">
            <a:avLst/>
          </a:prstGeom>
          <a:solidFill>
            <a:srgbClr val="414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64808"/>
            <a:ext cx="10817352" cy="20116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522"/>
              </a:lnSpc>
            </a:pPr>
            <a:r>
              <a:rPr sz="1000" b="0">
                <a:solidFill>
                  <a:srgbClr val="B6BFCE"/>
                </a:solidFill>
                <a:latin typeface="Noto Sans CJK SC"/>
                <a:ea typeface="Noto Sans CJK SC"/>
              </a:rPr>
              <a:t>AI 智能多模态伴侣机器人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0789920" cy="960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5480"/>
              </a:lnSpc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它能听懂、看懂，还认得你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557784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能听会说：接上大模型一直聊下去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70555"/>
            <a:ext cx="557784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认得每个人：听声音就知道是谁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80789"/>
            <a:ext cx="557784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能看会认：举起东西问，拍下再答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91025"/>
            <a:ext cx="557784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有表情：待机、聆听、思考、说话</a:t>
            </a:r>
          </a:p>
        </p:txBody>
      </p:sp>
      <p:pic>
        <p:nvPicPr>
          <p:cNvPr id="7" name="Picture 6" descr="05-shoot-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863215"/>
            <a:ext cx="4663440" cy="29146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6327648"/>
            <a:ext cx="10817352" cy="13716"/>
          </a:xfrm>
          <a:prstGeom prst="rect">
            <a:avLst/>
          </a:prstGeom>
          <a:solidFill>
            <a:srgbClr val="414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64808"/>
            <a:ext cx="10817352" cy="20116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522"/>
              </a:lnSpc>
            </a:pPr>
            <a:r>
              <a:rPr sz="1000" b="0">
                <a:solidFill>
                  <a:srgbClr val="B6BFCE"/>
                </a:solidFill>
                <a:latin typeface="Noto Sans CJK SC"/>
                <a:ea typeface="Noto Sans CJK SC"/>
              </a:rPr>
              <a:t>AI 智能多模态伴侣机器人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shoot-strip3_1333x5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7548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10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03520"/>
            <a:ext cx="10817352" cy="7772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5480"/>
              </a:lnSpc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从一堆零件，到它会自己走路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80760"/>
            <a:ext cx="10817352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827"/>
              </a:lnSpc>
            </a:pPr>
            <a:r>
              <a:rPr sz="1200" b="0">
                <a:solidFill>
                  <a:srgbClr val="B6BFCE"/>
                </a:solidFill>
                <a:latin typeface="Noto Sans CJK SC"/>
                <a:ea typeface="Noto Sans CJK SC"/>
              </a:rPr>
              <a:t>外壳自己画图打印，线一根根焊，固件一行行写——整台机器人没有一块是买来就能直接用的成品。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64808"/>
            <a:ext cx="10817352" cy="20116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522"/>
              </a:lnSpc>
            </a:pPr>
            <a:r>
              <a:rPr sz="1000" b="0">
                <a:solidFill>
                  <a:srgbClr val="B6BFCE"/>
                </a:solidFill>
                <a:latin typeface="Noto Sans CJK SC"/>
                <a:ea typeface="Noto Sans CJK SC"/>
              </a:rPr>
              <a:t>AI 智能多模态伴侣机器人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92040"/>
            <a:ext cx="10817352" cy="23774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827"/>
              </a:lnSpc>
            </a:pPr>
            <a:r>
              <a:rPr sz="1200" b="0">
                <a:solidFill>
                  <a:srgbClr val="BAF36B"/>
                </a:solidFill>
                <a:latin typeface="Noto Sans CJK SC"/>
                <a:ea typeface="Noto Sans CJK SC"/>
              </a:rPr>
              <a:t>3D 打印 · 手工焊接 · 一行行代码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0789920" cy="960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5480"/>
              </a:lnSpc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不用叫它，它也在干活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114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36"/>
              </a:lnSpc>
            </a:pPr>
            <a:r>
              <a:rPr sz="1600" b="0">
                <a:solidFill>
                  <a:srgbClr val="B6BFCE"/>
                </a:solidFill>
                <a:latin typeface="Noto Sans CJK SC"/>
                <a:ea typeface="Noto Sans CJK SC"/>
              </a:rPr>
              <a:t>放在桌上，它就是个不用休息的小管家。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4754880" cy="5943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36"/>
              </a:lnSpc>
            </a:pPr>
            <a:r>
              <a:rPr sz="1600" b="1">
                <a:solidFill>
                  <a:srgbClr val="BAF36B"/>
                </a:solidFill>
                <a:latin typeface="Noto Sans CJK SC"/>
                <a:ea typeface="Noto Sans CJK SC"/>
              </a:rPr>
              <a:t>桌面上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待机时钟：大字报时，一句话换色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67835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本地音乐：屏幕上滚动播放歌词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7807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AI 闹钟：到点自动播放音乐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788920"/>
            <a:ext cx="4754880" cy="5943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36"/>
              </a:lnSpc>
            </a:pPr>
            <a:r>
              <a:rPr sz="1600" b="1">
                <a:solidFill>
                  <a:srgbClr val="BAF36B"/>
                </a:solidFill>
                <a:latin typeface="Noto Sans CJK SC"/>
                <a:ea typeface="Noto Sans CJK SC"/>
              </a:rPr>
              <a:t>角落里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65760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照片相册：随手一拍，手机能翻看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267835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实时视频：网页一打开就能看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878070"/>
            <a:ext cx="475488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自主巡线：沿地上黑线自己走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27648"/>
            <a:ext cx="10817352" cy="13716"/>
          </a:xfrm>
          <a:prstGeom prst="rect">
            <a:avLst/>
          </a:prstGeom>
          <a:solidFill>
            <a:srgbClr val="414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64808"/>
            <a:ext cx="10817352" cy="20116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522"/>
              </a:lnSpc>
            </a:pPr>
            <a:r>
              <a:rPr sz="1000" b="0">
                <a:solidFill>
                  <a:srgbClr val="B6BFCE"/>
                </a:solidFill>
                <a:latin typeface="Noto Sans CJK SC"/>
                <a:ea typeface="Noto Sans CJK SC"/>
              </a:rPr>
              <a:t>AI 智能多模态伴侣机器人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594360"/>
            <a:ext cx="493776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827"/>
              </a:lnSpc>
            </a:pPr>
            <a:r>
              <a:rPr sz="1200" b="0">
                <a:solidFill>
                  <a:srgbClr val="BAF36B"/>
                </a:solidFill>
                <a:latin typeface="Noto Sans CJK SC"/>
                <a:ea typeface="Noto Sans CJK SC"/>
              </a:rPr>
              <a:t>家庭守护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097280"/>
            <a:ext cx="4937760" cy="15087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4872"/>
              </a:lnSpc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</a:rPr>
              <a:t>家里出事，它先开口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743200"/>
            <a:ext cx="4937760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36"/>
              </a:lnSpc>
            </a:pPr>
            <a:r>
              <a:rPr sz="1600" b="0">
                <a:solidFill>
                  <a:srgbClr val="B6BFCE"/>
                </a:solidFill>
                <a:latin typeface="Noto Sans CJK SC"/>
                <a:ea typeface="Noto Sans CJK SC"/>
              </a:rPr>
              <a:t>这几块面包板就是家里的联网节点，通电自动入网。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383280"/>
            <a:ext cx="493776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烟和可燃气：MQ-2 盯着厨房空气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011803"/>
            <a:ext cx="493776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明火：火焰传感器一扫就报警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640326"/>
            <a:ext cx="4937760" cy="44564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509"/>
              </a:lnSpc>
            </a:pPr>
            <a:r>
              <a:rPr sz="2200" b="0">
                <a:solidFill>
                  <a:srgbClr val="FFFFFF"/>
                </a:solidFill>
                <a:latin typeface="Noto Sans CJK SC"/>
                <a:ea typeface="Noto Sans CJK SC"/>
              </a:rPr>
              <a:t>报警：播报 + 屏幕 + 网页同步</a:t>
            </a:r>
          </a:p>
        </p:txBody>
      </p:sp>
      <p:pic>
        <p:nvPicPr>
          <p:cNvPr id="8" name="Picture 7" descr="08-home-nodes-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212080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464808"/>
            <a:ext cx="10817352" cy="20116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522"/>
              </a:lnSpc>
            </a:pPr>
            <a:r>
              <a:rPr sz="1000" b="0">
                <a:solidFill>
                  <a:srgbClr val="B6BFCE"/>
                </a:solidFill>
                <a:latin typeface="Noto Sans CJK SC"/>
                <a:ea typeface="Noto Sans CJK SC"/>
              </a:rPr>
              <a:t>AI 智能多模态伴侣机器人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4937760" cy="15087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4872"/>
              </a:lnSpc>
            </a:pPr>
            <a:r>
              <a:rPr sz="3200" b="1">
                <a:solidFill>
                  <a:srgbClr val="FFFFFF"/>
                </a:solidFill>
                <a:latin typeface="Noto Sans CJK SC"/>
                <a:ea typeface="Noto Sans CJK SC"/>
              </a:rPr>
              <a:t>手机打开网页就能管它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4937760" cy="85077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349"/>
              </a:lnSpc>
            </a:pPr>
            <a:r>
              <a:rPr sz="2100" b="0">
                <a:solidFill>
                  <a:srgbClr val="FFFFFF"/>
                </a:solidFill>
                <a:latin typeface="Noto Sans CJK SC"/>
                <a:ea typeface="Noto Sans CJK SC"/>
              </a:rPr>
              <a:t>不用装 App：连同一个 Wi-Fi，浏览器</a:t>
            </a:r>
          </a:p>
          <a:p>
            <a:pPr algn="l">
              <a:lnSpc>
                <a:spcPts val="3349"/>
              </a:lnSpc>
            </a:pPr>
            <a:r>
              <a:rPr sz="2100" b="0">
                <a:solidFill>
                  <a:srgbClr val="FFFFFF"/>
                </a:solidFill>
                <a:latin typeface="Noto Sans CJK SC"/>
                <a:ea typeface="Noto Sans CJK SC"/>
              </a:rPr>
              <a:t>输入屏幕上的地址。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88917"/>
            <a:ext cx="4937760" cy="85077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349"/>
              </a:lnSpc>
            </a:pPr>
            <a:r>
              <a:rPr sz="2100" b="0">
                <a:solidFill>
                  <a:srgbClr val="FFFFFF"/>
                </a:solidFill>
                <a:latin typeface="Noto Sans CJK SC"/>
                <a:ea typeface="Noto Sans CJK SC"/>
              </a:rPr>
              <a:t>传歌、定闹钟、开摇杆、看视频、查日</a:t>
            </a:r>
          </a:p>
          <a:p>
            <a:pPr algn="l">
              <a:lnSpc>
                <a:spcPts val="3349"/>
              </a:lnSpc>
            </a:pPr>
            <a:r>
              <a:rPr sz="2100" b="0">
                <a:solidFill>
                  <a:srgbClr val="FFFFFF"/>
                </a:solidFill>
                <a:latin typeface="Noto Sans CJK SC"/>
                <a:ea typeface="Noto Sans CJK SC"/>
              </a:rPr>
              <a:t>志全在一页。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94554"/>
            <a:ext cx="4937760" cy="850773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349"/>
              </a:lnSpc>
            </a:pPr>
            <a:r>
              <a:rPr sz="2100" b="0">
                <a:solidFill>
                  <a:srgbClr val="FFFFFF"/>
                </a:solidFill>
                <a:latin typeface="Noto Sans CJK SC"/>
                <a:ea typeface="Noto Sans CJK SC"/>
              </a:rPr>
              <a:t>页面打开时自动提速 Wi-Fi，遥控不卡</a:t>
            </a:r>
          </a:p>
          <a:p>
            <a:pPr algn="l">
              <a:lnSpc>
                <a:spcPts val="3349"/>
              </a:lnSpc>
            </a:pPr>
            <a:r>
              <a:rPr sz="2100" b="0">
                <a:solidFill>
                  <a:srgbClr val="FFFFFF"/>
                </a:solidFill>
                <a:latin typeface="Noto Sans CJK SC"/>
                <a:ea typeface="Noto Sans CJK SC"/>
              </a:rPr>
              <a:t>顿。</a:t>
            </a:r>
          </a:p>
        </p:txBody>
      </p:sp>
      <p:pic>
        <p:nvPicPr>
          <p:cNvPr id="6" name="Picture 5" descr="07-web-console-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85800"/>
            <a:ext cx="521208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464808"/>
            <a:ext cx="10817352" cy="20116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522"/>
              </a:lnSpc>
            </a:pPr>
            <a:r>
              <a:rPr sz="1000" b="0">
                <a:solidFill>
                  <a:srgbClr val="B6BFCE"/>
                </a:solidFill>
                <a:latin typeface="Noto Sans CJK SC"/>
                <a:ea typeface="Noto Sans CJK SC"/>
              </a:rPr>
              <a:t>AI 智能多模态伴侣机器人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10789920" cy="9601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5480"/>
              </a:lnSpc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让一台机器人“不抽风”有多难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114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2436"/>
              </a:lnSpc>
            </a:pPr>
            <a:r>
              <a:rPr sz="1600" b="0">
                <a:solidFill>
                  <a:srgbClr val="B6BFCE"/>
                </a:solidFill>
                <a:latin typeface="Noto Sans CJK SC"/>
                <a:ea typeface="Noto Sans CJK SC"/>
              </a:rPr>
              <a:t>会动只是开始，稳定才难。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2338578" cy="12344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7916"/>
              </a:lnSpc>
            </a:pPr>
            <a:r>
              <a:rPr sz="5200" b="1">
                <a:solidFill>
                  <a:srgbClr val="BAF36B"/>
                </a:solidFill>
                <a:latin typeface="Noto Sans CJK SC"/>
                <a:ea typeface="Noto Sans CJK SC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2338578" cy="5943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740"/>
              </a:lnSpc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个 AI 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2338578" cy="10058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131"/>
              </a:lnSpc>
            </a:pPr>
            <a:r>
              <a:rPr sz="1400" b="0">
                <a:solidFill>
                  <a:srgbClr val="B6BFCE"/>
                </a:solidFill>
                <a:latin typeface="Noto Sans CJK SC"/>
                <a:ea typeface="Noto Sans CJK SC"/>
              </a:rPr>
              <a:t>移动、放歌、拍照、开灯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90138" y="2834640"/>
            <a:ext cx="2338578" cy="12344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7916"/>
              </a:lnSpc>
            </a:pPr>
            <a:r>
              <a:rPr sz="5200" b="1">
                <a:solidFill>
                  <a:srgbClr val="BAF36B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0138" y="4343400"/>
            <a:ext cx="2338578" cy="5943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740"/>
              </a:lnSpc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个联网节点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0138" y="5029200"/>
            <a:ext cx="2338578" cy="10058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131"/>
              </a:lnSpc>
            </a:pPr>
            <a:r>
              <a:rPr sz="1400" b="0">
                <a:solidFill>
                  <a:srgbClr val="B6BFCE"/>
                </a:solidFill>
                <a:latin typeface="Noto Sans CJK SC"/>
                <a:ea typeface="Noto Sans CJK SC"/>
              </a:rPr>
              <a:t>客厅灯、玄关、厨房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6" y="2834640"/>
            <a:ext cx="2338578" cy="12344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7916"/>
              </a:lnSpc>
            </a:pPr>
            <a:r>
              <a:rPr sz="5200" b="1">
                <a:solidFill>
                  <a:srgbClr val="BAF36B"/>
                </a:solidFill>
                <a:latin typeface="Noto Sans CJK SC"/>
                <a:ea typeface="Noto Sans CJK SC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6" y="4343400"/>
            <a:ext cx="2338578" cy="5943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740"/>
              </a:lnSpc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类真机故障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6" y="5029200"/>
            <a:ext cx="2338578" cy="10058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131"/>
              </a:lnSpc>
            </a:pPr>
            <a:r>
              <a:rPr sz="1400" b="0">
                <a:solidFill>
                  <a:srgbClr val="B6BFCE"/>
                </a:solidFill>
                <a:latin typeface="Noto Sans CJK SC"/>
                <a:ea typeface="Noto Sans CJK SC"/>
              </a:rPr>
              <a:t>定位、修复、写进文档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8814" y="2834640"/>
            <a:ext cx="2338578" cy="12344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7916"/>
              </a:lnSpc>
            </a:pPr>
            <a:r>
              <a:rPr sz="5200" b="1">
                <a:solidFill>
                  <a:srgbClr val="BAF36B"/>
                </a:solidFill>
                <a:latin typeface="Noto Sans CJK SC"/>
                <a:ea typeface="Noto Sans CJK SC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8814" y="4343400"/>
            <a:ext cx="2338578" cy="59436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740"/>
              </a:lnSpc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个自动测试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8814" y="5029200"/>
            <a:ext cx="2338578" cy="100584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2131"/>
              </a:lnSpc>
            </a:pPr>
            <a:r>
              <a:rPr sz="1400" b="0">
                <a:solidFill>
                  <a:srgbClr val="B6BFCE"/>
                </a:solidFill>
                <a:latin typeface="Noto Sans CJK SC"/>
                <a:ea typeface="Noto Sans CJK SC"/>
              </a:rPr>
              <a:t>改完自动跑，防复发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327648"/>
            <a:ext cx="10817352" cy="13716"/>
          </a:xfrm>
          <a:prstGeom prst="rect">
            <a:avLst/>
          </a:prstGeom>
          <a:solidFill>
            <a:srgbClr val="414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64808"/>
            <a:ext cx="10817352" cy="20116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522"/>
              </a:lnSpc>
            </a:pPr>
            <a:r>
              <a:rPr sz="1000" b="0">
                <a:solidFill>
                  <a:srgbClr val="B6BFCE"/>
                </a:solidFill>
                <a:latin typeface="Noto Sans CJK SC"/>
                <a:ea typeface="Noto Sans CJK SC"/>
              </a:rPr>
              <a:t>AI 智能多模态伴侣机器人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97280"/>
            <a:ext cx="10607040" cy="1371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8526"/>
              </a:lnSpc>
            </a:pPr>
            <a:r>
              <a:rPr sz="5600" b="0">
                <a:solidFill>
                  <a:srgbClr val="FFFFFF"/>
                </a:solidFill>
                <a:latin typeface="Noto Sans CJK SC"/>
                <a:ea typeface="Noto Sans CJK SC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08960"/>
            <a:ext cx="10607040" cy="1371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ts val="8221"/>
              </a:lnSpc>
            </a:pPr>
            <a:r>
              <a:rPr sz="5400" b="1">
                <a:solidFill>
                  <a:srgbClr val="FFFFFF"/>
                </a:solidFill>
                <a:latin typeface="Noto Sans CJK SC"/>
                <a:ea typeface="Noto Sans CJK SC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045"/>
              </a:lnSpc>
            </a:pPr>
            <a:r>
              <a:rPr sz="2000" b="0">
                <a:solidFill>
                  <a:srgbClr val="FFFFFF"/>
                </a:solidFill>
                <a:latin typeface="Noto Sans CJK SC"/>
                <a:ea typeface="Noto Sans CJK SC"/>
              </a:rPr>
              <a:t>让 AI 从工具变成伙伴 ·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